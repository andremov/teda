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068" autoAdjust="0"/>
  </p:normalViewPr>
  <p:slideViewPr>
    <p:cSldViewPr>
      <p:cViewPr varScale="1">
        <p:scale>
          <a:sx n="109" d="100"/>
          <a:sy n="109" d="100"/>
        </p:scale>
        <p:origin x="236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BA5BBA-8595-440A-907E-DC765A5CE764}" type="datetimeFigureOut">
              <a:rPr lang="es-CO" smtClean="0"/>
              <a:t>20/04/2026</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5E46C-4DFF-4966-91A3-3C302D5D9B05}" type="slidenum">
              <a:rPr lang="es-CO" smtClean="0"/>
              <a:t>‹#›</a:t>
            </a:fld>
            <a:endParaRPr lang="es-CO"/>
          </a:p>
        </p:txBody>
      </p:sp>
    </p:spTree>
    <p:extLst>
      <p:ext uri="{BB962C8B-B14F-4D97-AF65-F5344CB8AC3E}">
        <p14:creationId xmlns:p14="http://schemas.microsoft.com/office/powerpoint/2010/main" val="3043701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4705E46C-4DFF-4966-91A3-3C302D5D9B05}" type="slidenum">
              <a:rPr lang="es-CO" smtClean="0"/>
              <a:t>1</a:t>
            </a:fld>
            <a:endParaRPr lang="es-CO"/>
          </a:p>
        </p:txBody>
      </p:sp>
    </p:spTree>
    <p:extLst>
      <p:ext uri="{BB962C8B-B14F-4D97-AF65-F5344CB8AC3E}">
        <p14:creationId xmlns:p14="http://schemas.microsoft.com/office/powerpoint/2010/main" val="2901978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209505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2590011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800323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114469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520638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1829419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107077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3017876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4123110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3881017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6574B506-D239-4F96-BF70-755FADC9CB02}" type="datetimeFigureOut">
              <a:rPr lang="es-CO" smtClean="0"/>
              <a:t>20/04/2026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A4F87AD-21CA-400F-85A6-4A5283B08B48}" type="slidenum">
              <a:rPr lang="es-CO" smtClean="0"/>
              <a:t>‹#›</a:t>
            </a:fld>
            <a:endParaRPr lang="es-CO"/>
          </a:p>
        </p:txBody>
      </p:sp>
    </p:spTree>
    <p:extLst>
      <p:ext uri="{BB962C8B-B14F-4D97-AF65-F5344CB8AC3E}">
        <p14:creationId xmlns:p14="http://schemas.microsoft.com/office/powerpoint/2010/main" val="3840786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74B506-D239-4F96-BF70-755FADC9CB02}" type="datetimeFigureOut">
              <a:rPr lang="es-CO" smtClean="0"/>
              <a:t>20/04/2026</a:t>
            </a:fld>
            <a:endParaRPr lang="es-CO"/>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4F87AD-21CA-400F-85A6-4A5283B08B48}" type="slidenum">
              <a:rPr lang="es-CO" smtClean="0"/>
              <a:t>‹#›</a:t>
            </a:fld>
            <a:endParaRPr lang="es-CO"/>
          </a:p>
        </p:txBody>
      </p:sp>
    </p:spTree>
    <p:extLst>
      <p:ext uri="{BB962C8B-B14F-4D97-AF65-F5344CB8AC3E}">
        <p14:creationId xmlns:p14="http://schemas.microsoft.com/office/powerpoint/2010/main" val="3093906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23528" y="260648"/>
            <a:ext cx="8496944" cy="63205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4 CuadroTexto"/>
          <p:cNvSpPr txBox="1"/>
          <p:nvPr/>
        </p:nvSpPr>
        <p:spPr>
          <a:xfrm>
            <a:off x="489552" y="595343"/>
            <a:ext cx="2376242" cy="3077766"/>
          </a:xfrm>
          <a:prstGeom prst="rect">
            <a:avLst/>
          </a:prstGeom>
          <a:noFill/>
        </p:spPr>
        <p:txBody>
          <a:bodyPr wrap="square" rtlCol="0">
            <a:spAutoFit/>
          </a:bodyPr>
          <a:lstStyle/>
          <a:p>
            <a:pPr algn="ctr"/>
            <a:r>
              <a:rPr lang="es-CO" b="1" dirty="0"/>
              <a:t>Sustentación</a:t>
            </a:r>
          </a:p>
          <a:p>
            <a:pPr algn="ctr"/>
            <a:r>
              <a:rPr lang="es-CO" b="1" dirty="0"/>
              <a:t>Maestría </a:t>
            </a:r>
          </a:p>
          <a:p>
            <a:pPr algn="ctr"/>
            <a:r>
              <a:rPr lang="es-CO" b="1" dirty="0"/>
              <a:t>Ingeniería de Sistemas y Computación</a:t>
            </a:r>
          </a:p>
          <a:p>
            <a:endParaRPr lang="es-CO" sz="1400" i="1" dirty="0"/>
          </a:p>
          <a:p>
            <a:r>
              <a:rPr lang="es-CO" sz="1400" i="1" dirty="0"/>
              <a:t>Departamento de </a:t>
            </a:r>
          </a:p>
          <a:p>
            <a:r>
              <a:rPr lang="es-CO" sz="1400" i="1" dirty="0"/>
              <a:t>Ingeniería de Sistemas y Computación</a:t>
            </a:r>
          </a:p>
          <a:p>
            <a:endParaRPr lang="es-CO" dirty="0"/>
          </a:p>
          <a:p>
            <a:r>
              <a:rPr lang="es-CO" sz="1600" dirty="0"/>
              <a:t>Fecha: viernes 24 de abril de 2026</a:t>
            </a:r>
          </a:p>
          <a:p>
            <a:r>
              <a:rPr lang="es-CO" sz="1600" dirty="0"/>
              <a:t>Hora:  </a:t>
            </a:r>
            <a:r>
              <a:rPr lang="es-CO" sz="1500" b="1" i="1" u="sng" dirty="0"/>
              <a:t>8:00 a 10:00 am</a:t>
            </a:r>
          </a:p>
          <a:p>
            <a:r>
              <a:rPr lang="es-CO" sz="1600" dirty="0"/>
              <a:t>Lugar: Por confirmar</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6 CuadroTexto"/>
          <p:cNvSpPr txBox="1"/>
          <p:nvPr/>
        </p:nvSpPr>
        <p:spPr>
          <a:xfrm>
            <a:off x="3481694" y="736515"/>
            <a:ext cx="3970626" cy="269304"/>
          </a:xfrm>
          <a:prstGeom prst="rect">
            <a:avLst/>
          </a:prstGeom>
          <a:noFill/>
        </p:spPr>
        <p:txBody>
          <a:bodyPr wrap="square" rtlCol="0">
            <a:spAutoFit/>
          </a:bodyPr>
          <a:lstStyle/>
          <a:p>
            <a:pPr algn="ctr"/>
            <a:r>
              <a:rPr lang="en-US" sz="1150" b="1" dirty="0"/>
              <a:t>Implementation of Shrinkage Estimators for Cosmological Precision Matrices</a:t>
            </a:r>
            <a:endParaRPr lang="en-US" sz="1600" b="1" dirty="0"/>
          </a:p>
        </p:txBody>
      </p:sp>
      <p:sp>
        <p:nvSpPr>
          <p:cNvPr id="10" name="9 CuadroTexto"/>
          <p:cNvSpPr txBox="1"/>
          <p:nvPr/>
        </p:nvSpPr>
        <p:spPr>
          <a:xfrm>
            <a:off x="3293876" y="1503977"/>
            <a:ext cx="4653055" cy="923330"/>
          </a:xfrm>
          <a:prstGeom prst="rect">
            <a:avLst/>
          </a:prstGeom>
          <a:noFill/>
        </p:spPr>
        <p:txBody>
          <a:bodyPr wrap="square" rtlCol="0">
            <a:spAutoFit/>
          </a:bodyPr>
          <a:lstStyle/>
          <a:p>
            <a:pPr algn="ctr"/>
            <a:r>
              <a:rPr lang="es-ES" sz="1600" dirty="0"/>
              <a:t>Andrés F. Movilla Obregón</a:t>
            </a:r>
          </a:p>
          <a:p>
            <a:pPr algn="ctr"/>
            <a:r>
              <a:rPr lang="es-ES" sz="1200" b="1" dirty="0"/>
              <a:t>TUTOR </a:t>
            </a:r>
            <a:r>
              <a:rPr lang="es-ES" sz="1200" dirty="0"/>
              <a:t>Elias D. Niño-Ruiz, Ph.D.</a:t>
            </a:r>
          </a:p>
          <a:p>
            <a:pPr algn="ctr"/>
            <a:r>
              <a:rPr lang="es-CO" sz="1400" i="1" dirty="0"/>
              <a:t>	</a:t>
            </a:r>
          </a:p>
        </p:txBody>
      </p:sp>
      <p:pic>
        <p:nvPicPr>
          <p:cNvPr id="12" name="11 Imagen"/>
          <p:cNvPicPr/>
          <p:nvPr/>
        </p:nvPicPr>
        <p:blipFill rotWithShape="1">
          <a:blip r:embed="rId3">
            <a:extLst>
              <a:ext uri="{28A0092B-C50C-407E-A947-70E740481C1C}">
                <a14:useLocalDpi xmlns:a14="http://schemas.microsoft.com/office/drawing/2010/main" val="0"/>
              </a:ext>
            </a:extLst>
          </a:blip>
          <a:srcRect l="15198" t="67940" r="68064" b="17015"/>
          <a:stretch/>
        </p:blipFill>
        <p:spPr bwMode="auto">
          <a:xfrm>
            <a:off x="754349" y="5013176"/>
            <a:ext cx="1735554" cy="1085442"/>
          </a:xfrm>
          <a:prstGeom prst="rect">
            <a:avLst/>
          </a:prstGeom>
          <a:ln>
            <a:noFill/>
          </a:ln>
          <a:extLst>
            <a:ext uri="{53640926-AAD7-44D8-BBD7-CCE9431645EC}">
              <a14:shadowObscured xmlns:a14="http://schemas.microsoft.com/office/drawing/2010/main"/>
            </a:ext>
          </a:extLst>
        </p:spPr>
      </p:pic>
      <p:sp>
        <p:nvSpPr>
          <p:cNvPr id="15" name="14 Rectángulo"/>
          <p:cNvSpPr/>
          <p:nvPr/>
        </p:nvSpPr>
        <p:spPr>
          <a:xfrm rot="5400000">
            <a:off x="5341002" y="3659775"/>
            <a:ext cx="179680" cy="5195084"/>
          </a:xfrm>
          <a:prstGeom prst="rect">
            <a:avLst/>
          </a:prstGeom>
          <a:solidFill>
            <a:schemeClr val="bg1">
              <a:lumMod val="8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15 Rectángulo"/>
          <p:cNvSpPr/>
          <p:nvPr/>
        </p:nvSpPr>
        <p:spPr>
          <a:xfrm>
            <a:off x="2833300" y="966052"/>
            <a:ext cx="155245" cy="5367753"/>
          </a:xfrm>
          <a:prstGeom prst="rect">
            <a:avLst/>
          </a:prstGeom>
          <a:solidFill>
            <a:schemeClr val="bg1">
              <a:lumMod val="8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CuadroTexto 2"/>
          <p:cNvSpPr txBox="1"/>
          <p:nvPr/>
        </p:nvSpPr>
        <p:spPr>
          <a:xfrm>
            <a:off x="3063462" y="2360205"/>
            <a:ext cx="5508868" cy="1785104"/>
          </a:xfrm>
          <a:prstGeom prst="rect">
            <a:avLst/>
          </a:prstGeom>
          <a:noFill/>
        </p:spPr>
        <p:txBody>
          <a:bodyPr wrap="square" rtlCol="0">
            <a:spAutoFit/>
          </a:bodyPr>
          <a:lstStyle/>
          <a:p>
            <a:pPr algn="just"/>
            <a:r>
              <a:rPr lang="es-CO" sz="1100" b="1" dirty="0"/>
              <a:t>Resumen de la tesis. </a:t>
            </a:r>
            <a:r>
              <a:rPr lang="en-US" sz="1100" dirty="0"/>
              <a:t>Ensemble Kalman filters require the inverse of the background error covariance matrix, but when the ensemble size is small relative to the state dimension, the sample covariance is ill-conditioned and cannot be reliably inverted. We embed the direct precision shrinkage framework of Bodnar et al. into the dual formulation of the Ensemble Kalman Filter, recomputing shrinkage coefficients at each assimilation cycle. Six estimators are tested on Lorenz 96 (n=40, dense precision) and BOSS DR12 cosmological mock data (d=18, near-diagonal precision), alongside two baselines.</a:t>
            </a:r>
          </a:p>
          <a:p>
            <a:pPr algn="just"/>
            <a:r>
              <a:rPr lang="en-US" sz="1100" dirty="0"/>
              <a:t>Two main findings emerge. First, direct precision shrinkage performance depends critically on target-truth alignment: diagonal targets fail on Lorenz 96 but succeed on cosmological data. Second, the best standalone precision estimator is not the best sequential filter—Ledoit-Wolf produces the worst standalone estimates yet the lowest EnKF RMSE, because its low variance prevents error cascades across assimilation cycles. For sequential data assimilation, variance reduction matters at least as much as bias reduction. All implementations are publicly available in the TEDA framework.</a:t>
            </a:r>
          </a:p>
          <a:p>
            <a:pPr algn="just"/>
            <a:endParaRPr lang="es-CO" sz="1100" dirty="0"/>
          </a:p>
        </p:txBody>
      </p:sp>
      <p:sp>
        <p:nvSpPr>
          <p:cNvPr id="8" name="CuadroTexto 7">
            <a:extLst>
              <a:ext uri="{FF2B5EF4-FFF2-40B4-BE49-F238E27FC236}">
                <a16:creationId xmlns:a16="http://schemas.microsoft.com/office/drawing/2014/main" id="{34F26C76-95FF-BA61-4881-46E739F37A4E}"/>
              </a:ext>
            </a:extLst>
          </p:cNvPr>
          <p:cNvSpPr txBox="1"/>
          <p:nvPr/>
        </p:nvSpPr>
        <p:spPr>
          <a:xfrm>
            <a:off x="7318607" y="717276"/>
            <a:ext cx="1253723" cy="1200329"/>
          </a:xfrm>
          <a:prstGeom prst="rect">
            <a:avLst/>
          </a:prstGeom>
          <a:noFill/>
          <a:ln>
            <a:solidFill>
              <a:schemeClr val="accent1"/>
            </a:solidFill>
          </a:ln>
        </p:spPr>
        <p:txBody>
          <a:bodyPr wrap="square" rtlCol="0">
            <a:spAutoFit/>
          </a:bodyPr>
          <a:lstStyle/>
          <a:p>
            <a:endParaRPr lang="es-MX" dirty="0"/>
          </a:p>
          <a:p>
            <a:pPr algn="ctr"/>
            <a:r>
              <a:rPr lang="es-MX" dirty="0"/>
              <a:t>Foto estudiante</a:t>
            </a:r>
          </a:p>
          <a:p>
            <a:endParaRPr lang="es-MX" dirty="0"/>
          </a:p>
        </p:txBody>
      </p:sp>
      <p:pic>
        <p:nvPicPr>
          <p:cNvPr id="6" name="Picture 5">
            <a:extLst>
              <a:ext uri="{FF2B5EF4-FFF2-40B4-BE49-F238E27FC236}">
                <a16:creationId xmlns:a16="http://schemas.microsoft.com/office/drawing/2014/main" id="{A6DEC1A8-7EBC-39DC-1E76-79E4AB4A1A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8304" y="716691"/>
            <a:ext cx="1344157" cy="1344157"/>
          </a:xfrm>
          <a:prstGeom prst="rect">
            <a:avLst/>
          </a:prstGeom>
        </p:spPr>
      </p:pic>
    </p:spTree>
    <p:extLst>
      <p:ext uri="{BB962C8B-B14F-4D97-AF65-F5344CB8AC3E}">
        <p14:creationId xmlns:p14="http://schemas.microsoft.com/office/powerpoint/2010/main" val="8908823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665</TotalTime>
  <Words>256</Words>
  <Application>Microsoft Office PowerPoint</Application>
  <PresentationFormat>On-screen Show (4:3)</PresentationFormat>
  <Paragraphs>19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Tema de Office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Samira Santana Sarmiento</dc:creator>
  <cp:lastModifiedBy>Andres Movilla</cp:lastModifiedBy>
  <cp:revision>64</cp:revision>
  <dcterms:created xsi:type="dcterms:W3CDTF">2017-05-26T19:55:29Z</dcterms:created>
  <dcterms:modified xsi:type="dcterms:W3CDTF">2026-04-20T22:07:43Z</dcterms:modified>
</cp:coreProperties>
</file>